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_rels/presentation.xml.rels" ContentType="application/vnd.openxmlformats-package.relationships+xml"/>
  <Override PartName="/ppt/media/image12.png" ContentType="image/png"/>
  <Override PartName="/ppt/media/image16.png" ContentType="image/png"/>
  <Override PartName="/ppt/media/image1.png" ContentType="image/png"/>
  <Override PartName="/ppt/media/image2.jpeg" ContentType="image/jpeg"/>
  <Override PartName="/ppt/media/image4.jpeg" ContentType="image/jpeg"/>
  <Override PartName="/ppt/media/image14.png" ContentType="image/png"/>
  <Override PartName="/ppt/media/image5.png" ContentType="image/png"/>
  <Override PartName="/ppt/media/image8.jpeg" ContentType="image/jpeg"/>
  <Override PartName="/ppt/media/image15.png" ContentType="image/png"/>
  <Override PartName="/ppt/media/image3.jpeg" ContentType="image/jpeg"/>
  <Override PartName="/ppt/media/image6.png" ContentType="image/png"/>
  <Override PartName="/ppt/media/image11.png" ContentType="image/png"/>
  <Override PartName="/ppt/media/image10.jpeg" ContentType="image/jpeg"/>
  <Override PartName="/ppt/media/image9.png" ContentType="image/png"/>
  <Override PartName="/ppt/media/image7.jpeg" ContentType="image/jpeg"/>
  <Override PartName="/ppt/media/image1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724A017-267C-412D-B77A-C2EA1FAEE9E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B501F8B-73F9-451A-AAE9-7E325650A6D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5E32393-D8D9-49DA-928C-B22C0AF8F8C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CB83B7A9-C418-4628-B6C3-4F77DC045E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6BE365B5-B4F9-4E15-B0F4-30015C96FC0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D730BE76-BA5F-4682-9C40-7D6604CD118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E6742531-40BF-4CEF-A176-B281FA18A03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109BE522-CEBA-4509-95B2-D538F6F7EF7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AB7AA4F2-B99F-4C6D-8B19-F62053AA859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72F78B83-BA07-483B-9840-29B05D0E294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C81B687C-FD52-4A39-80F8-59EFB02420E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>
            <a:lumMod val="7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 hidden="1"/>
          <p:cNvSpPr/>
          <p:nvPr/>
        </p:nvSpPr>
        <p:spPr>
          <a:xfrm>
            <a:off x="11292840" y="0"/>
            <a:ext cx="913320" cy="685692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Rectangle 6"/>
          <p:cNvSpPr/>
          <p:nvPr/>
        </p:nvSpPr>
        <p:spPr>
          <a:xfrm>
            <a:off x="0" y="0"/>
            <a:ext cx="456120" cy="6856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 rot="16200000">
            <a:off x="9959400" y="4047840"/>
            <a:ext cx="3580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11292840" y="6172200"/>
            <a:ext cx="913320" cy="5925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36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Century Schoolbook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BB5BC96C-9124-4884-BE38-359ED8303A2F}" type="slidenum">
              <a:rPr b="0" lang="en-US" sz="3600" spc="-1" strike="noStrike">
                <a:solidFill>
                  <a:schemeClr val="dk1">
                    <a:lumMod val="60000"/>
                    <a:lumOff val="40000"/>
                  </a:schemeClr>
                </a:solidFill>
                <a:latin typeface="Century Schoolbook"/>
              </a:rPr>
              <a:t>&lt;number&gt;</a:t>
            </a:fld>
            <a:endParaRPr b="0" lang="en-US" sz="3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 rot="16200000">
            <a:off x="10797480" y="999720"/>
            <a:ext cx="19040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/>
          <p:cNvSpPr/>
          <p:nvPr/>
        </p:nvSpPr>
        <p:spPr>
          <a:xfrm>
            <a:off x="11292840" y="0"/>
            <a:ext cx="913320" cy="685692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ftr" idx="4"/>
          </p:nvPr>
        </p:nvSpPr>
        <p:spPr>
          <a:xfrm rot="16200000">
            <a:off x="9959400" y="4047840"/>
            <a:ext cx="3580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5"/>
          </p:nvPr>
        </p:nvSpPr>
        <p:spPr>
          <a:xfrm>
            <a:off x="11292840" y="6172200"/>
            <a:ext cx="913320" cy="5925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3600" spc="-1" strike="noStrike">
                <a:solidFill>
                  <a:schemeClr val="dk2">
                    <a:lumMod val="60000"/>
                    <a:lumOff val="40000"/>
                  </a:schemeClr>
                </a:solidFill>
                <a:latin typeface="Century Schoolbook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3E581DD3-A624-42AD-B7E6-1E1E6432448C}" type="slidenum">
              <a:rPr b="0" lang="en-US" sz="3600" spc="-1" strike="noStrike">
                <a:solidFill>
                  <a:schemeClr val="dk2">
                    <a:lumMod val="60000"/>
                    <a:lumOff val="40000"/>
                  </a:schemeClr>
                </a:solidFill>
                <a:latin typeface="Century Schoolbook"/>
              </a:rPr>
              <a:t>&lt;number&gt;</a:t>
            </a:fld>
            <a:endParaRPr b="0" lang="en-US" sz="3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6"/>
          </p:nvPr>
        </p:nvSpPr>
        <p:spPr>
          <a:xfrm rot="16200000">
            <a:off x="10797480" y="999720"/>
            <a:ext cx="19040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6"/>
          <p:cNvSpPr/>
          <p:nvPr/>
        </p:nvSpPr>
        <p:spPr>
          <a:xfrm>
            <a:off x="11292840" y="0"/>
            <a:ext cx="913320" cy="685692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ftr" idx="7"/>
          </p:nvPr>
        </p:nvSpPr>
        <p:spPr>
          <a:xfrm rot="16200000">
            <a:off x="9959400" y="4047840"/>
            <a:ext cx="3580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sldNum" idx="8"/>
          </p:nvPr>
        </p:nvSpPr>
        <p:spPr>
          <a:xfrm>
            <a:off x="11292840" y="6172200"/>
            <a:ext cx="913320" cy="5925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3600" spc="-1" strike="noStrike">
                <a:solidFill>
                  <a:schemeClr val="dk2">
                    <a:lumMod val="60000"/>
                    <a:lumOff val="40000"/>
                  </a:schemeClr>
                </a:solidFill>
                <a:latin typeface="Century Schoolbook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B10A0C11-C407-4248-BA59-82A5F0CF82E7}" type="slidenum">
              <a:rPr b="0" lang="en-US" sz="3600" spc="-1" strike="noStrike">
                <a:solidFill>
                  <a:schemeClr val="dk2">
                    <a:lumMod val="60000"/>
                    <a:lumOff val="40000"/>
                  </a:schemeClr>
                </a:solidFill>
                <a:latin typeface="Century Schoolbook"/>
              </a:rPr>
              <a:t>&lt;number&gt;</a:t>
            </a:fld>
            <a:endParaRPr b="0" lang="en-US" sz="3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9"/>
          </p:nvPr>
        </p:nvSpPr>
        <p:spPr>
          <a:xfrm rot="16200000">
            <a:off x="10797480" y="999720"/>
            <a:ext cx="19040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6"/>
          <p:cNvSpPr/>
          <p:nvPr/>
        </p:nvSpPr>
        <p:spPr>
          <a:xfrm>
            <a:off x="11292840" y="0"/>
            <a:ext cx="913320" cy="685692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Outline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enth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Outli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ne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Leve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ftr" idx="10"/>
          </p:nvPr>
        </p:nvSpPr>
        <p:spPr>
          <a:xfrm rot="16200000">
            <a:off x="9959400" y="4047840"/>
            <a:ext cx="3580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sldNum" idx="11"/>
          </p:nvPr>
        </p:nvSpPr>
        <p:spPr>
          <a:xfrm>
            <a:off x="11292840" y="6172200"/>
            <a:ext cx="913320" cy="5925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3600" spc="-1" strike="noStrike">
                <a:solidFill>
                  <a:schemeClr val="dk2">
                    <a:lumMod val="60000"/>
                    <a:lumOff val="40000"/>
                  </a:schemeClr>
                </a:solidFill>
                <a:latin typeface="Century Schoolbook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581FEBE9-C373-4D1F-95CB-F652F38AE699}" type="slidenum">
              <a:rPr b="0" lang="en-US" sz="3600" spc="-1" strike="noStrike">
                <a:solidFill>
                  <a:schemeClr val="dk2">
                    <a:lumMod val="60000"/>
                    <a:lumOff val="40000"/>
                  </a:schemeClr>
                </a:solidFill>
                <a:latin typeface="Century Schoolbook"/>
              </a:rPr>
              <a:t>&lt;number&gt;</a:t>
            </a:fld>
            <a:endParaRPr b="0" lang="en-US" sz="3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dt" idx="12"/>
          </p:nvPr>
        </p:nvSpPr>
        <p:spPr>
          <a:xfrm rot="16200000">
            <a:off x="10797480" y="999720"/>
            <a:ext cx="19040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6"/>
          <p:cNvSpPr/>
          <p:nvPr/>
        </p:nvSpPr>
        <p:spPr>
          <a:xfrm>
            <a:off x="11292840" y="0"/>
            <a:ext cx="913320" cy="685692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Rectangle 6"/>
          <p:cNvSpPr/>
          <p:nvPr/>
        </p:nvSpPr>
        <p:spPr>
          <a:xfrm>
            <a:off x="0" y="0"/>
            <a:ext cx="456120" cy="6856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ftr" idx="13"/>
          </p:nvPr>
        </p:nvSpPr>
        <p:spPr>
          <a:xfrm rot="16200000">
            <a:off x="9959400" y="4047840"/>
            <a:ext cx="3580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sldNum" idx="14"/>
          </p:nvPr>
        </p:nvSpPr>
        <p:spPr>
          <a:xfrm>
            <a:off x="11292840" y="6172200"/>
            <a:ext cx="913320" cy="5925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3600" spc="-1" strike="noStrike">
                <a:solidFill>
                  <a:schemeClr val="dk2">
                    <a:lumMod val="60000"/>
                    <a:lumOff val="40000"/>
                  </a:schemeClr>
                </a:solidFill>
                <a:latin typeface="Century Schoolbook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A1319078-C019-4AFC-8658-736030A151AB}" type="slidenum">
              <a:rPr b="0" lang="en-US" sz="3600" spc="-1" strike="noStrike">
                <a:solidFill>
                  <a:schemeClr val="dk2">
                    <a:lumMod val="60000"/>
                    <a:lumOff val="40000"/>
                  </a:schemeClr>
                </a:solidFill>
                <a:latin typeface="Century Schoolbook"/>
              </a:rPr>
              <a:t>&lt;number&gt;</a:t>
            </a:fld>
            <a:endParaRPr b="0" lang="en-US" sz="3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5"/>
          </p:nvPr>
        </p:nvSpPr>
        <p:spPr>
          <a:xfrm rot="16200000">
            <a:off x="10797480" y="999720"/>
            <a:ext cx="19040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6"/>
          <p:cNvSpPr/>
          <p:nvPr/>
        </p:nvSpPr>
        <p:spPr>
          <a:xfrm>
            <a:off x="11292840" y="0"/>
            <a:ext cx="913320" cy="685692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16"/>
          </p:nvPr>
        </p:nvSpPr>
        <p:spPr>
          <a:xfrm rot="16200000">
            <a:off x="9959400" y="4047840"/>
            <a:ext cx="3580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17"/>
          </p:nvPr>
        </p:nvSpPr>
        <p:spPr>
          <a:xfrm>
            <a:off x="11292840" y="6172200"/>
            <a:ext cx="913320" cy="5925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3600" spc="-1" strike="noStrike">
                <a:solidFill>
                  <a:schemeClr val="dk2">
                    <a:lumMod val="60000"/>
                    <a:lumOff val="40000"/>
                  </a:schemeClr>
                </a:solidFill>
                <a:latin typeface="Century Schoolbook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96DA9BAE-EB75-4B42-9C83-0310ABD19BCC}" type="slidenum">
              <a:rPr b="0" lang="en-US" sz="3600" spc="-1" strike="noStrike">
                <a:solidFill>
                  <a:schemeClr val="dk2">
                    <a:lumMod val="60000"/>
                    <a:lumOff val="40000"/>
                  </a:schemeClr>
                </a:solidFill>
                <a:latin typeface="Century Schoolbook"/>
              </a:rPr>
              <a:t>&lt;number&gt;</a:t>
            </a:fld>
            <a:endParaRPr b="0" lang="en-US" sz="3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8"/>
          </p:nvPr>
        </p:nvSpPr>
        <p:spPr>
          <a:xfrm rot="16200000">
            <a:off x="10797480" y="999720"/>
            <a:ext cx="19040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6"/>
          <p:cNvSpPr/>
          <p:nvPr/>
        </p:nvSpPr>
        <p:spPr>
          <a:xfrm>
            <a:off x="11292840" y="0"/>
            <a:ext cx="913320" cy="685692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ftr" idx="19"/>
          </p:nvPr>
        </p:nvSpPr>
        <p:spPr>
          <a:xfrm rot="16200000">
            <a:off x="9959400" y="4047840"/>
            <a:ext cx="3580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0"/>
          </p:nvPr>
        </p:nvSpPr>
        <p:spPr>
          <a:xfrm>
            <a:off x="11292840" y="6172200"/>
            <a:ext cx="913320" cy="5925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3600" spc="-1" strike="noStrike">
                <a:solidFill>
                  <a:schemeClr val="dk2">
                    <a:lumMod val="60000"/>
                    <a:lumOff val="40000"/>
                  </a:schemeClr>
                </a:solidFill>
                <a:latin typeface="Century Schoolbook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9F1561CC-BABD-4CC4-977A-671153CCA764}" type="slidenum">
              <a:rPr b="0" lang="en-US" sz="3600" spc="-1" strike="noStrike">
                <a:solidFill>
                  <a:schemeClr val="dk2">
                    <a:lumMod val="60000"/>
                    <a:lumOff val="40000"/>
                  </a:schemeClr>
                </a:solidFill>
                <a:latin typeface="Century Schoolbook"/>
              </a:rPr>
              <a:t>&lt;number&gt;</a:t>
            </a:fld>
            <a:endParaRPr b="0" lang="en-US" sz="3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21"/>
          </p:nvPr>
        </p:nvSpPr>
        <p:spPr>
          <a:xfrm rot="16200000">
            <a:off x="10797480" y="999720"/>
            <a:ext cx="19040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6"/>
          <p:cNvSpPr/>
          <p:nvPr/>
        </p:nvSpPr>
        <p:spPr>
          <a:xfrm>
            <a:off x="11292840" y="0"/>
            <a:ext cx="913320" cy="685692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ftr" idx="22"/>
          </p:nvPr>
        </p:nvSpPr>
        <p:spPr>
          <a:xfrm rot="16200000">
            <a:off x="9959400" y="4047840"/>
            <a:ext cx="3580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sldNum" idx="23"/>
          </p:nvPr>
        </p:nvSpPr>
        <p:spPr>
          <a:xfrm>
            <a:off x="11292840" y="6172200"/>
            <a:ext cx="913320" cy="5925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3600" spc="-1" strike="noStrike">
                <a:solidFill>
                  <a:schemeClr val="dk2">
                    <a:lumMod val="60000"/>
                    <a:lumOff val="40000"/>
                  </a:schemeClr>
                </a:solidFill>
                <a:latin typeface="Century Schoolbook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AD24D4BD-B490-4813-9A55-A67F6401DB1E}" type="slidenum">
              <a:rPr b="0" lang="en-US" sz="3600" spc="-1" strike="noStrike">
                <a:solidFill>
                  <a:schemeClr val="dk2">
                    <a:lumMod val="60000"/>
                    <a:lumOff val="40000"/>
                  </a:schemeClr>
                </a:solidFill>
                <a:latin typeface="Century Schoolbook"/>
              </a:rPr>
              <a:t>&lt;number&gt;</a:t>
            </a:fld>
            <a:endParaRPr b="0" lang="en-US" sz="3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4"/>
          </p:nvPr>
        </p:nvSpPr>
        <p:spPr>
          <a:xfrm rot="16200000">
            <a:off x="10797480" y="999720"/>
            <a:ext cx="19040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6"/>
          <p:cNvSpPr/>
          <p:nvPr/>
        </p:nvSpPr>
        <p:spPr>
          <a:xfrm>
            <a:off x="11292840" y="0"/>
            <a:ext cx="913320" cy="685692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 type="ftr" idx="25"/>
          </p:nvPr>
        </p:nvSpPr>
        <p:spPr>
          <a:xfrm rot="16200000">
            <a:off x="9959400" y="4047840"/>
            <a:ext cx="3580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ldNum" idx="26"/>
          </p:nvPr>
        </p:nvSpPr>
        <p:spPr>
          <a:xfrm>
            <a:off x="11292840" y="6172200"/>
            <a:ext cx="913320" cy="5925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3600" spc="-1" strike="noStrike">
                <a:solidFill>
                  <a:schemeClr val="dk2">
                    <a:lumMod val="60000"/>
                    <a:lumOff val="40000"/>
                  </a:schemeClr>
                </a:solidFill>
                <a:latin typeface="Century Schoolbook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901F35E3-58A5-412E-BC14-0E5B1CFDEC80}" type="slidenum">
              <a:rPr b="0" lang="en-US" sz="3600" spc="-1" strike="noStrike">
                <a:solidFill>
                  <a:schemeClr val="dk2">
                    <a:lumMod val="60000"/>
                    <a:lumOff val="40000"/>
                  </a:schemeClr>
                </a:solidFill>
                <a:latin typeface="Century Schoolbook"/>
              </a:rPr>
              <a:t>&lt;number&gt;</a:t>
            </a:fld>
            <a:endParaRPr b="0" lang="en-US" sz="3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dt" idx="27"/>
          </p:nvPr>
        </p:nvSpPr>
        <p:spPr>
          <a:xfrm rot="16200000">
            <a:off x="10797480" y="999720"/>
            <a:ext cx="19040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6"/>
          <p:cNvSpPr/>
          <p:nvPr/>
        </p:nvSpPr>
        <p:spPr>
          <a:xfrm>
            <a:off x="11292840" y="0"/>
            <a:ext cx="913320" cy="685692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ftr" idx="28"/>
          </p:nvPr>
        </p:nvSpPr>
        <p:spPr>
          <a:xfrm rot="16200000">
            <a:off x="9959400" y="4047840"/>
            <a:ext cx="3580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ldNum" idx="29"/>
          </p:nvPr>
        </p:nvSpPr>
        <p:spPr>
          <a:xfrm>
            <a:off x="11292840" y="6172200"/>
            <a:ext cx="913320" cy="5925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3600" spc="-1" strike="noStrike">
                <a:solidFill>
                  <a:schemeClr val="dk2">
                    <a:lumMod val="60000"/>
                    <a:lumOff val="40000"/>
                  </a:schemeClr>
                </a:solidFill>
                <a:latin typeface="Century Schoolbook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A9A06BCC-2B86-48B6-A7A4-3139C55C351C}" type="slidenum">
              <a:rPr b="0" lang="en-US" sz="3600" spc="-1" strike="noStrike">
                <a:solidFill>
                  <a:schemeClr val="dk2">
                    <a:lumMod val="60000"/>
                    <a:lumOff val="40000"/>
                  </a:schemeClr>
                </a:solidFill>
                <a:latin typeface="Century Schoolbook"/>
              </a:rPr>
              <a:t>&lt;number&gt;</a:t>
            </a:fld>
            <a:endParaRPr b="0" lang="en-US" sz="3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dt" idx="30"/>
          </p:nvPr>
        </p:nvSpPr>
        <p:spPr>
          <a:xfrm rot="16200000">
            <a:off x="10797480" y="999720"/>
            <a:ext cx="19040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"/>
          <p:cNvSpPr/>
          <p:nvPr/>
        </p:nvSpPr>
        <p:spPr>
          <a:xfrm>
            <a:off x="11292840" y="0"/>
            <a:ext cx="913320" cy="685692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Rectangle 7"/>
          <p:cNvSpPr/>
          <p:nvPr/>
        </p:nvSpPr>
        <p:spPr>
          <a:xfrm>
            <a:off x="0" y="5105520"/>
            <a:ext cx="11291760" cy="1751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ftr" idx="31"/>
          </p:nvPr>
        </p:nvSpPr>
        <p:spPr>
          <a:xfrm rot="16200000">
            <a:off x="9959400" y="4047840"/>
            <a:ext cx="358020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sldNum" idx="32"/>
          </p:nvPr>
        </p:nvSpPr>
        <p:spPr>
          <a:xfrm>
            <a:off x="11292840" y="6172200"/>
            <a:ext cx="913320" cy="592560"/>
          </a:xfrm>
          <a:prstGeom prst="rect">
            <a:avLst/>
          </a:prstGeom>
          <a:noFill/>
          <a:ln w="0">
            <a:noFill/>
          </a:ln>
        </p:spPr>
        <p:txBody>
          <a:bodyPr lIns="45720" rIns="4572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3600" spc="-1" strike="noStrike">
                <a:solidFill>
                  <a:schemeClr val="dk2">
                    <a:lumMod val="60000"/>
                    <a:lumOff val="40000"/>
                  </a:schemeClr>
                </a:solidFill>
                <a:latin typeface="Century Schoolbook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fld id="{2C8BD363-40D1-4D37-9134-5E7BD9549571}" type="slidenum">
              <a:rPr b="0" lang="en-US" sz="3600" spc="-1" strike="noStrike">
                <a:solidFill>
                  <a:schemeClr val="dk2">
                    <a:lumMod val="60000"/>
                    <a:lumOff val="40000"/>
                  </a:schemeClr>
                </a:solidFill>
                <a:latin typeface="Century Schoolbook"/>
              </a:rPr>
              <a:t>&lt;number&gt;</a:t>
            </a:fld>
            <a:endParaRPr b="0" lang="en-US" sz="36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dt" idx="33"/>
          </p:nvPr>
        </p:nvSpPr>
        <p:spPr>
          <a:xfrm rot="16200000">
            <a:off x="10797480" y="999720"/>
            <a:ext cx="190404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8.jpe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2">
            <a:lumMod val="9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5"/>
          <p:cNvSpPr/>
          <p:nvPr/>
        </p:nvSpPr>
        <p:spPr>
          <a:xfrm>
            <a:off x="781200" y="397800"/>
            <a:ext cx="62564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400" spc="-1" strike="noStrike">
                <a:solidFill>
                  <a:schemeClr val="dk1"/>
                </a:solidFill>
                <a:latin typeface="Century Schoolbook"/>
              </a:rPr>
              <a:t>Title : </a:t>
            </a:r>
            <a:r>
              <a:rPr b="0" lang="en-US" sz="2400" spc="-1" strike="noStrike">
                <a:solidFill>
                  <a:schemeClr val="dk1"/>
                </a:solidFill>
                <a:latin typeface="Century Schoolbook"/>
                <a:ea typeface="Century Schoolbook"/>
              </a:rPr>
              <a:t>Design and Evaluation of Lightweight Architectures for Single Sentence Video Captioning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Box 6"/>
          <p:cNvSpPr/>
          <p:nvPr/>
        </p:nvSpPr>
        <p:spPr>
          <a:xfrm>
            <a:off x="777600" y="2995200"/>
            <a:ext cx="453348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i="1" lang="en-US" sz="2400" spc="-1" strike="noStrike">
                <a:solidFill>
                  <a:schemeClr val="dk1"/>
                </a:solidFill>
                <a:latin typeface="Century Schoolbook"/>
              </a:rPr>
              <a:t>Under the Guidance of 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i="1" lang="en-US" sz="2400" spc="-1" strike="noStrike">
                <a:solidFill>
                  <a:schemeClr val="dk1"/>
                </a:solidFill>
                <a:latin typeface="Neue Haas Grotesk Text Pro"/>
              </a:rPr>
              <a:t>Assistant Prof.  Dr. Parijat Bhowmick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Box 8"/>
          <p:cNvSpPr/>
          <p:nvPr/>
        </p:nvSpPr>
        <p:spPr>
          <a:xfrm>
            <a:off x="633960" y="5266080"/>
            <a:ext cx="3612960" cy="69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entury Schoolbook"/>
              </a:rPr>
              <a:t>Kuldeep (234156024)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2000" spc="-1" strike="noStrike">
                <a:solidFill>
                  <a:schemeClr val="dk1"/>
                </a:solidFill>
                <a:latin typeface="Century Schoolbook"/>
              </a:rPr>
              <a:t>M.Tech CICPS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0" name="Picture 4" descr="A logo with a symbol in the middle&#10;&#10;AI-generated content may be incorrect."/>
          <p:cNvPicPr/>
          <p:nvPr/>
        </p:nvPicPr>
        <p:blipFill>
          <a:blip r:embed="rId1"/>
          <a:stretch/>
        </p:blipFill>
        <p:spPr>
          <a:xfrm>
            <a:off x="7349040" y="402480"/>
            <a:ext cx="4422960" cy="4456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tint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85920" cy="6856920"/>
          </a:xfrm>
          <a:prstGeom prst="rect">
            <a:avLst/>
          </a:prstGeom>
          <a:solidFill>
            <a:srgbClr val="6f6f7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entury Schoolbook"/>
            </a:endParaRPr>
          </a:p>
        </p:txBody>
      </p:sp>
      <p:sp>
        <p:nvSpPr>
          <p:cNvPr id="72" name="Rectangle 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9720" y="0"/>
            <a:ext cx="5164200" cy="685692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entury Schoolbook"/>
            </a:endParaRPr>
          </a:p>
        </p:txBody>
      </p: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6486120" y="643320"/>
            <a:ext cx="4417920" cy="555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52" strike="noStrike">
                <a:solidFill>
                  <a:schemeClr val="dk1"/>
                </a:solidFill>
                <a:latin typeface="Century Schoolbook"/>
              </a:rPr>
              <a:t>Outline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1732320" y="643320"/>
            <a:ext cx="4008600" cy="552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b="0" lang="en-US" sz="1800" spc="4" strike="noStrike">
                <a:solidFill>
                  <a:schemeClr val="dk1"/>
                </a:solidFill>
                <a:latin typeface="Century Schoolbook"/>
              </a:rPr>
              <a:t>Introduction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b="0" lang="en-US" sz="1800" spc="4" strike="noStrike">
                <a:solidFill>
                  <a:schemeClr val="dk1"/>
                </a:solidFill>
                <a:latin typeface="Century Schoolbook"/>
                <a:ea typeface="Century Schoolbook"/>
              </a:rPr>
              <a:t>Motivation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b="0" lang="en-US" sz="1800" spc="4" strike="noStrike">
                <a:solidFill>
                  <a:schemeClr val="dk1"/>
                </a:solidFill>
                <a:latin typeface="Century Schoolbook"/>
                <a:ea typeface="Century Schoolbook"/>
              </a:rPr>
              <a:t>Datasets Used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b="0" lang="en-US" sz="1800" spc="4" strike="noStrike">
                <a:solidFill>
                  <a:schemeClr val="dk1"/>
                </a:solidFill>
                <a:latin typeface="Century Schoolbook"/>
                <a:ea typeface="Century Schoolbook"/>
              </a:rPr>
              <a:t>Proposed Pipeline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b="0" lang="en-US" sz="1800" spc="4" strike="noStrike">
                <a:solidFill>
                  <a:schemeClr val="dk1"/>
                </a:solidFill>
                <a:latin typeface="Century Schoolbook"/>
                <a:ea typeface="Century Schoolbook"/>
              </a:rPr>
              <a:t>Decoder Models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b="0" lang="en-US" sz="1800" spc="4" strike="noStrike">
                <a:solidFill>
                  <a:schemeClr val="dk1"/>
                </a:solidFill>
                <a:latin typeface="Century Schoolbook"/>
                <a:ea typeface="Century Schoolbook"/>
              </a:rPr>
              <a:t>Key Frame Selection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b="0" lang="en-US" sz="1800" spc="4" strike="noStrike">
                <a:solidFill>
                  <a:schemeClr val="dk1"/>
                </a:solidFill>
                <a:latin typeface="Century Schoolbook"/>
                <a:ea typeface="Century Schoolbook"/>
              </a:rPr>
              <a:t>Feature Extractors Compared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b="0" lang="en-US" sz="1800" spc="4" strike="noStrike">
                <a:solidFill>
                  <a:schemeClr val="dk1"/>
                </a:solidFill>
                <a:latin typeface="Century Schoolbook"/>
                <a:ea typeface="Century Schoolbook"/>
              </a:rPr>
              <a:t>Results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b="0" lang="en-US" sz="1800" spc="4" strike="noStrike">
                <a:solidFill>
                  <a:schemeClr val="dk1"/>
                </a:solidFill>
                <a:latin typeface="Century Schoolbook"/>
                <a:ea typeface="Century Schoolbook"/>
              </a:rPr>
              <a:t>Conclusion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b="0" lang="en-US" sz="1800" spc="4" strike="noStrike">
                <a:solidFill>
                  <a:schemeClr val="dk1"/>
                </a:solidFill>
                <a:latin typeface="Century Schoolbook"/>
                <a:ea typeface="Century Schoolbook"/>
              </a:rPr>
              <a:t>Future Work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ectangle 3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92840" y="0"/>
            <a:ext cx="913320" cy="685692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>
            <a:lumMod val="7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3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6120" cy="6856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 useBgFill="1">
        <p:nvSpPr>
          <p:cNvPr id="77" name="Rectangle 4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80" y="0"/>
            <a:ext cx="1218780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entury Schoolbook"/>
            </a:endParaRPr>
          </a:p>
        </p:txBody>
      </p: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5103360" y="4701960"/>
            <a:ext cx="5774400" cy="12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4400" spc="-52" strike="noStrike">
                <a:solidFill>
                  <a:schemeClr val="dk1"/>
                </a:solidFill>
                <a:latin typeface="Century Schoolbook"/>
              </a:rPr>
              <a:t>Introduction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Picture 4" descr="Drone Flying Inside the Warehouse. Stock Photo - Image of goods, flying: 109175460"/>
          <p:cNvPicPr/>
          <p:nvPr/>
        </p:nvPicPr>
        <p:blipFill>
          <a:blip r:embed="rId1"/>
          <a:srcRect l="8518" t="0" r="17244" b="0"/>
          <a:stretch/>
        </p:blipFill>
        <p:spPr>
          <a:xfrm>
            <a:off x="0" y="0"/>
            <a:ext cx="4847040" cy="4358520"/>
          </a:xfrm>
          <a:prstGeom prst="rect">
            <a:avLst/>
          </a:prstGeom>
          <a:ln w="0">
            <a:noFill/>
          </a:ln>
        </p:spPr>
      </p:pic>
      <p:pic>
        <p:nvPicPr>
          <p:cNvPr id="80" name="Picture 5" descr="The Benefits of Drones for Traffic Surveillance - Drones and UAV News"/>
          <p:cNvPicPr/>
          <p:nvPr/>
        </p:nvPicPr>
        <p:blipFill>
          <a:blip r:embed="rId2"/>
          <a:srcRect l="0" t="0" r="7293" b="0"/>
          <a:stretch/>
        </p:blipFill>
        <p:spPr>
          <a:xfrm>
            <a:off x="4975200" y="0"/>
            <a:ext cx="7215840" cy="4358520"/>
          </a:xfrm>
          <a:prstGeom prst="rect">
            <a:avLst/>
          </a:prstGeom>
          <a:ln w="0">
            <a:noFill/>
          </a:ln>
        </p:spPr>
      </p:pic>
      <p:pic>
        <p:nvPicPr>
          <p:cNvPr id="81" name="Picture 3" descr="Landslide in Norway Leads to Largest European Drone Operation Ever"/>
          <p:cNvPicPr/>
          <p:nvPr/>
        </p:nvPicPr>
        <p:blipFill>
          <a:blip r:embed="rId3"/>
          <a:srcRect l="0" t="5834" r="0" b="0"/>
          <a:stretch/>
        </p:blipFill>
        <p:spPr>
          <a:xfrm>
            <a:off x="0" y="4472640"/>
            <a:ext cx="4847040" cy="2384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1261800" y="365760"/>
            <a:ext cx="9691560" cy="132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52" strike="noStrike">
                <a:solidFill>
                  <a:schemeClr val="dk1"/>
                </a:solidFill>
                <a:latin typeface="Century Schoolbook"/>
                <a:ea typeface="Century Schoolbook"/>
              </a:rPr>
              <a:t>Motivation for Lightweight Models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1261800" y="1828800"/>
            <a:ext cx="8594280" cy="43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b="0" lang="en-US" sz="2000" spc="4" strike="noStrike">
                <a:solidFill>
                  <a:schemeClr val="dk1"/>
                </a:solidFill>
                <a:latin typeface="Century Schoolbook"/>
                <a:ea typeface="Century Schoolbook"/>
              </a:rPr>
              <a:t>Heavy models → slow + high compute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b="0" lang="en-US" sz="2000" spc="4" strike="noStrike">
                <a:solidFill>
                  <a:schemeClr val="dk1"/>
                </a:solidFill>
                <a:latin typeface="Century Schoolbook"/>
                <a:ea typeface="Century Schoolbook"/>
              </a:rPr>
              <a:t>Need real-time captioning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b="0" lang="en-US" sz="2000" spc="4" strike="noStrike">
                <a:solidFill>
                  <a:schemeClr val="dk1"/>
                </a:solidFill>
                <a:latin typeface="Century Schoolbook"/>
                <a:ea typeface="Century Schoolbook"/>
              </a:rPr>
              <a:t>Edge devices (mobile, CCTV, drones)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b="0" lang="en-US" sz="2000" spc="4" strike="noStrike">
                <a:solidFill>
                  <a:schemeClr val="dk1"/>
                </a:solidFill>
                <a:latin typeface="Century Schoolbook"/>
                <a:ea typeface="Century Schoolbook"/>
              </a:rPr>
              <a:t>Focus on CNNs like MobileNet, ShuffleNet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tint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entury Schoolbook"/>
            </a:endParaRPr>
          </a:p>
        </p:txBody>
      </p:sp>
      <p:sp>
        <p:nvSpPr>
          <p:cNvPr id="85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77720" y="0"/>
            <a:ext cx="913320" cy="685692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Box 8"/>
          <p:cNvSpPr/>
          <p:nvPr/>
        </p:nvSpPr>
        <p:spPr>
          <a:xfrm>
            <a:off x="225360" y="448920"/>
            <a:ext cx="923112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4400" spc="-1" strike="noStrike">
                <a:solidFill>
                  <a:schemeClr val="dk1"/>
                </a:solidFill>
                <a:latin typeface="Century Schoolbook"/>
                <a:ea typeface="Century Schoolbook"/>
              </a:rPr>
              <a:t>Challenges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1"/>
          <p:cNvSpPr/>
          <p:nvPr/>
        </p:nvSpPr>
        <p:spPr>
          <a:xfrm>
            <a:off x="324000" y="2206080"/>
            <a:ext cx="4602600" cy="200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marL="285840" indent="-28584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entury Schoolbook"/>
                <a:ea typeface="Century Schoolbook"/>
              </a:rPr>
              <a:t>High visual complexity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entury Schoolbook"/>
                <a:ea typeface="Century Schoolbook"/>
              </a:rPr>
              <a:t>Temporal reasoning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entury Schoolbook"/>
                <a:ea typeface="Century Schoolbook"/>
              </a:rPr>
              <a:t>Semantic ambiguity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entury Schoolbook"/>
                <a:ea typeface="Century Schoolbook"/>
              </a:rPr>
              <a:t>Information bottleneck (1 sentence only)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entury Schoolbook"/>
                <a:ea typeface="Century Schoolbook"/>
              </a:rPr>
              <a:t>Noisy captions in datasets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2"/>
          <p:cNvSpPr/>
          <p:nvPr/>
        </p:nvSpPr>
        <p:spPr>
          <a:xfrm>
            <a:off x="324000" y="5851080"/>
            <a:ext cx="3060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entury Schoolbook"/>
              </a:rPr>
              <a:t>   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6"/>
          <p:cNvSpPr/>
          <p:nvPr/>
        </p:nvSpPr>
        <p:spPr>
          <a:xfrm>
            <a:off x="4231800" y="5481000"/>
            <a:ext cx="3060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entury Schoolbook"/>
              </a:rPr>
              <a:t>     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10"/>
          <p:cNvSpPr/>
          <p:nvPr/>
        </p:nvSpPr>
        <p:spPr>
          <a:xfrm>
            <a:off x="7922160" y="5481000"/>
            <a:ext cx="3060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entury Schoolbook"/>
              </a:rPr>
              <a:t>      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Box 12"/>
          <p:cNvSpPr/>
          <p:nvPr/>
        </p:nvSpPr>
        <p:spPr>
          <a:xfrm>
            <a:off x="7922160" y="5851080"/>
            <a:ext cx="3060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entury Schoolbook"/>
              </a:rPr>
              <a:t>  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42240" cy="685692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entury Schoolbook"/>
            </a:endParaRPr>
          </a:p>
        </p:txBody>
      </p:sp>
      <p:sp>
        <p:nvSpPr>
          <p:cNvPr id="93" name="Rectangle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3320" y="0"/>
            <a:ext cx="3735000" cy="685692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entury Schoolbook"/>
            </a:endParaRPr>
          </a:p>
        </p:txBody>
      </p:sp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965160" y="643320"/>
            <a:ext cx="3091680" cy="552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2800" spc="-52" strike="noStrike">
                <a:solidFill>
                  <a:srgbClr val="ffffff"/>
                </a:solidFill>
                <a:latin typeface="Century Schoolbook"/>
                <a:ea typeface="Century Schoolbook"/>
              </a:rPr>
              <a:t>Datasets Used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 useBgFill="1">
        <p:nvSpPr>
          <p:cNvPr id="95" name="Rectangle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9760" y="0"/>
            <a:ext cx="691200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entury Schoolbook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821840" y="643320"/>
            <a:ext cx="5826240" cy="556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b="0" lang="en-US" sz="2400" spc="4" strike="noStrike">
                <a:solidFill>
                  <a:schemeClr val="dk1"/>
                </a:solidFill>
                <a:latin typeface="Century Schoolbook"/>
                <a:ea typeface="Century Schoolbook"/>
              </a:rPr>
              <a:t>MSVD dataset(1970 Videos clip)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b="0" lang="en-US" sz="2400" spc="4" strike="noStrike">
                <a:solidFill>
                  <a:schemeClr val="dk1"/>
                </a:solidFill>
                <a:latin typeface="Century Schoolbook"/>
                <a:ea typeface="Century Schoolbook"/>
              </a:rPr>
              <a:t>MSR-VTT dataset(7010 Videos clip)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b="0" lang="en-US" sz="2400" spc="4" strike="noStrike">
                <a:solidFill>
                  <a:schemeClr val="dk1"/>
                </a:solidFill>
                <a:latin typeface="Century Schoolbook"/>
                <a:ea typeface="Century Schoolbook"/>
              </a:rPr>
              <a:t>Short videos + multiple captions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Rectangle 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42240" cy="685692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entury Schoolbook"/>
            </a:endParaRPr>
          </a:p>
        </p:txBody>
      </p:sp>
      <p:sp>
        <p:nvSpPr>
          <p:cNvPr id="98" name="Rectangle 2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3320" y="0"/>
            <a:ext cx="3735000" cy="685692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entury Schoolbook"/>
            </a:endParaRPr>
          </a:p>
        </p:txBody>
      </p:sp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965160" y="643320"/>
            <a:ext cx="3091680" cy="552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52" strike="noStrike">
                <a:solidFill>
                  <a:schemeClr val="lt1"/>
                </a:solidFill>
                <a:latin typeface="Century Schoolbook"/>
                <a:ea typeface="Century Schoolbook"/>
              </a:rPr>
              <a:t>Proposed Pipeline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 useBgFill="1">
        <p:nvSpPr>
          <p:cNvPr id="100" name="Rectangl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79760" y="0"/>
            <a:ext cx="691200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entury Schoolbook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821840" y="643320"/>
            <a:ext cx="5826240" cy="556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Picture 3" descr="A diagram of process flow&#10;&#10;AI-generated content may be incorrect."/>
          <p:cNvPicPr/>
          <p:nvPr/>
        </p:nvPicPr>
        <p:blipFill>
          <a:blip r:embed="rId1"/>
          <a:stretch/>
        </p:blipFill>
        <p:spPr>
          <a:xfrm>
            <a:off x="4376880" y="2009880"/>
            <a:ext cx="6738840" cy="2837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tint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/>
          </p:nvPr>
        </p:nvSpPr>
        <p:spPr>
          <a:xfrm>
            <a:off x="689400" y="2027880"/>
            <a:ext cx="3706560" cy="2174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None/>
              <a:tabLst>
                <a:tab algn="l" pos="0"/>
              </a:tabLst>
            </a:pPr>
            <a:r>
              <a:rPr b="0" lang="en-US" sz="2800" spc="4" strike="noStrike">
                <a:solidFill>
                  <a:schemeClr val="dk1"/>
                </a:solidFill>
                <a:latin typeface="Century Schoolbook"/>
                <a:ea typeface="Century Schoolbook"/>
              </a:rPr>
              <a:t>Decoder Models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482360" y="1865160"/>
            <a:ext cx="5459040" cy="359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b="0" lang="en-US" sz="1800" spc="4" strike="noStrike">
                <a:solidFill>
                  <a:schemeClr val="dk1"/>
                </a:solidFill>
                <a:latin typeface="Century Schoolbook"/>
                <a:ea typeface="Century Schoolbook"/>
              </a:rPr>
              <a:t>LSTM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b="0" lang="en-US" sz="1800" spc="4" strike="noStrike">
                <a:solidFill>
                  <a:schemeClr val="dk1"/>
                </a:solidFill>
                <a:latin typeface="Century Schoolbook"/>
                <a:ea typeface="Century Schoolbook"/>
              </a:rPr>
              <a:t>GRU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b="0" lang="en-US" sz="1800" spc="4" strike="noStrike">
                <a:solidFill>
                  <a:schemeClr val="dk1"/>
                </a:solidFill>
                <a:latin typeface="Century Schoolbook"/>
                <a:ea typeface="Century Schoolbook"/>
              </a:rPr>
              <a:t>Decoder Base Transformer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b="0" lang="en-US" sz="1800" spc="4" strike="noStrike">
                <a:solidFill>
                  <a:schemeClr val="dk1"/>
                </a:solidFill>
                <a:latin typeface="Century Schoolbook"/>
                <a:ea typeface="Century Schoolbook"/>
              </a:rPr>
              <a:t>Compare performance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tint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5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entury Schoolbook"/>
            </a:endParaRPr>
          </a:p>
        </p:txBody>
      </p:sp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23720" y="365760"/>
            <a:ext cx="10529640" cy="83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52" strike="noStrike">
                <a:solidFill>
                  <a:schemeClr val="dk1"/>
                </a:solidFill>
                <a:latin typeface="Century Schoolbook"/>
                <a:ea typeface="Century Schoolbook"/>
              </a:rPr>
              <a:t>Experiment Frame Selection Strategy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23720" y="1382400"/>
            <a:ext cx="9432360" cy="3936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77720" y="0"/>
            <a:ext cx="913320" cy="685692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9" name="Picture 3" descr=""/>
          <p:cNvPicPr/>
          <p:nvPr/>
        </p:nvPicPr>
        <p:blipFill>
          <a:blip r:embed="rId1"/>
          <a:stretch/>
        </p:blipFill>
        <p:spPr>
          <a:xfrm>
            <a:off x="495000" y="1380960"/>
            <a:ext cx="10274040" cy="409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tint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0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entury Schoolbook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73920" y="365760"/>
            <a:ext cx="10279440" cy="94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52" strike="noStrike">
                <a:solidFill>
                  <a:schemeClr val="dk1"/>
                </a:solidFill>
                <a:latin typeface="Century Schoolbook"/>
              </a:rPr>
              <a:t> </a:t>
            </a:r>
            <a:r>
              <a:rPr b="0" lang="en-US" sz="4400" spc="-52" strike="noStrike">
                <a:solidFill>
                  <a:schemeClr val="dk1"/>
                </a:solidFill>
                <a:latin typeface="Century Schoolbook"/>
                <a:ea typeface="Century Schoolbook"/>
              </a:rPr>
              <a:t>Experiment of Frame Selection 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2" name="Content Placeholder 3" descr="2c.PNG"/>
          <p:cNvPicPr/>
          <p:nvPr/>
        </p:nvPicPr>
        <p:blipFill>
          <a:blip r:embed="rId1"/>
          <a:stretch/>
        </p:blipFill>
        <p:spPr>
          <a:xfrm>
            <a:off x="3987720" y="2160720"/>
            <a:ext cx="3185640" cy="3236760"/>
          </a:xfrm>
          <a:prstGeom prst="rect">
            <a:avLst/>
          </a:prstGeom>
          <a:ln w="0">
            <a:noFill/>
          </a:ln>
        </p:spPr>
      </p:pic>
      <p:sp>
        <p:nvSpPr>
          <p:cNvPr id="11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77720" y="0"/>
            <a:ext cx="913320" cy="685692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4" name="Picture 4" descr="2d.PNG"/>
          <p:cNvPicPr/>
          <p:nvPr/>
        </p:nvPicPr>
        <p:blipFill>
          <a:blip r:embed="rId2"/>
          <a:stretch/>
        </p:blipFill>
        <p:spPr>
          <a:xfrm>
            <a:off x="7464600" y="2162160"/>
            <a:ext cx="3301200" cy="3295440"/>
          </a:xfrm>
          <a:prstGeom prst="rect">
            <a:avLst/>
          </a:prstGeom>
          <a:ln w="0">
            <a:noFill/>
          </a:ln>
        </p:spPr>
      </p:pic>
      <p:pic>
        <p:nvPicPr>
          <p:cNvPr id="115" name="Picture 2" descr=""/>
          <p:cNvPicPr/>
          <p:nvPr/>
        </p:nvPicPr>
        <p:blipFill>
          <a:blip r:embed="rId3"/>
          <a:stretch/>
        </p:blipFill>
        <p:spPr>
          <a:xfrm>
            <a:off x="673920" y="1716840"/>
            <a:ext cx="10171800" cy="4094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>
            <a:lumMod val="90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Picture 5" descr="A screenshot of a video game&#10;&#10;AI-generated content may be incorrect."/>
          <p:cNvPicPr/>
          <p:nvPr/>
        </p:nvPicPr>
        <p:blipFill>
          <a:blip r:embed="rId1"/>
          <a:stretch/>
        </p:blipFill>
        <p:spPr>
          <a:xfrm>
            <a:off x="6746760" y="3589200"/>
            <a:ext cx="3972960" cy="1985760"/>
          </a:xfrm>
          <a:prstGeom prst="rect">
            <a:avLst/>
          </a:prstGeom>
          <a:ln w="0">
            <a:noFill/>
          </a:ln>
        </p:spPr>
      </p:pic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261800" y="365760"/>
            <a:ext cx="9691560" cy="97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52" strike="noStrike">
                <a:solidFill>
                  <a:schemeClr val="dk1"/>
                </a:solidFill>
                <a:latin typeface="Century Schoolbook"/>
              </a:rPr>
              <a:t>Experiment of Frame  Selection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8" name="Content Placeholder 16" descr=""/>
          <p:cNvPicPr/>
          <p:nvPr/>
        </p:nvPicPr>
        <p:blipFill>
          <a:blip r:embed="rId2"/>
          <a:stretch/>
        </p:blipFill>
        <p:spPr>
          <a:xfrm>
            <a:off x="415800" y="1690560"/>
            <a:ext cx="10542960" cy="4905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tint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9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entury Schoolbook"/>
            </a:endParaRPr>
          </a:p>
        </p:txBody>
      </p: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312120" y="266400"/>
            <a:ext cx="9691560" cy="68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52" strike="noStrike">
                <a:solidFill>
                  <a:schemeClr val="dk1"/>
                </a:solidFill>
                <a:latin typeface="Century Schoolbook"/>
                <a:ea typeface="Century Schoolbook"/>
              </a:rPr>
              <a:t>       </a:t>
            </a:r>
            <a:r>
              <a:rPr b="0" lang="en-US" sz="4400" spc="-52" strike="noStrike">
                <a:solidFill>
                  <a:schemeClr val="dk1"/>
                </a:solidFill>
                <a:latin typeface="Century Schoolbook"/>
                <a:ea typeface="Century Schoolbook"/>
              </a:rPr>
              <a:t>Feature Extractors Compared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77720" y="0"/>
            <a:ext cx="913320" cy="685692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" name="Picture 2" descr=""/>
          <p:cNvPicPr/>
          <p:nvPr/>
        </p:nvPicPr>
        <p:blipFill>
          <a:blip r:embed="rId1"/>
          <a:stretch/>
        </p:blipFill>
        <p:spPr>
          <a:xfrm>
            <a:off x="218160" y="1474920"/>
            <a:ext cx="10915200" cy="4883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tint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3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entury Schoolbook"/>
            </a:endParaRPr>
          </a:p>
        </p:txBody>
      </p:sp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22640" y="217800"/>
            <a:ext cx="9691560" cy="77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52" strike="noStrike">
                <a:solidFill>
                  <a:schemeClr val="dk1"/>
                </a:solidFill>
                <a:latin typeface="Century Schoolbook"/>
                <a:ea typeface="Noto Sans CJK SC"/>
              </a:rPr>
              <a:t>      </a:t>
            </a:r>
            <a:r>
              <a:rPr b="0" lang="en-US" sz="4400" spc="-52" strike="noStrike">
                <a:solidFill>
                  <a:schemeClr val="dk1"/>
                </a:solidFill>
                <a:latin typeface="Century Schoolbook"/>
                <a:ea typeface="Century Schoolbook"/>
              </a:rPr>
              <a:t>Feature Extractors Compared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77720" y="0"/>
            <a:ext cx="913320" cy="685692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6" name="Picture 2" descr="A diagram of a algorithm&#10;&#10;AI-generated content may be incorrect."/>
          <p:cNvPicPr/>
          <p:nvPr/>
        </p:nvPicPr>
        <p:blipFill>
          <a:blip r:embed="rId1"/>
          <a:stretch/>
        </p:blipFill>
        <p:spPr>
          <a:xfrm>
            <a:off x="419760" y="1467000"/>
            <a:ext cx="10545480" cy="5148720"/>
          </a:xfrm>
          <a:prstGeom prst="rect">
            <a:avLst/>
          </a:prstGeom>
          <a:ln w="0">
            <a:noFill/>
          </a:ln>
        </p:spPr>
      </p:pic>
      <p:pic>
        <p:nvPicPr>
          <p:cNvPr id="127" name="Picture 3" descr=""/>
          <p:cNvPicPr/>
          <p:nvPr/>
        </p:nvPicPr>
        <p:blipFill>
          <a:blip r:embed="rId2"/>
          <a:stretch/>
        </p:blipFill>
        <p:spPr>
          <a:xfrm>
            <a:off x="352800" y="1371600"/>
            <a:ext cx="10609920" cy="5236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1261800" y="758880"/>
            <a:ext cx="9417240" cy="82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en-US" sz="2800" spc="-52" strike="noStrike">
                <a:solidFill>
                  <a:schemeClr val="dk1"/>
                </a:solidFill>
                <a:latin typeface="Century Schoolbook"/>
                <a:ea typeface="Century Schoolbook"/>
              </a:rPr>
              <a:t>Comparison of Model Architectures Based on Parameters and GFLOPs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9" name="Picture 3" descr="A table with black text and numbers&#10;&#10;AI-generated content may be incorrect."/>
          <p:cNvPicPr/>
          <p:nvPr/>
        </p:nvPicPr>
        <p:blipFill>
          <a:blip r:embed="rId1"/>
          <a:stretch/>
        </p:blipFill>
        <p:spPr>
          <a:xfrm>
            <a:off x="1152360" y="2188080"/>
            <a:ext cx="9885960" cy="2732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tint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0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entury Schoolbook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168480" y="619920"/>
            <a:ext cx="9691560" cy="794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52" strike="noStrike">
                <a:solidFill>
                  <a:schemeClr val="dk1"/>
                </a:solidFill>
                <a:latin typeface="Century Schoolbook"/>
                <a:ea typeface="Century Schoolbook"/>
              </a:rPr>
              <a:t>Results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77720" y="0"/>
            <a:ext cx="913320" cy="685692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3"/>
          <p:cNvSpPr/>
          <p:nvPr/>
        </p:nvSpPr>
        <p:spPr>
          <a:xfrm>
            <a:off x="324000" y="6166800"/>
            <a:ext cx="3060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entury Schoolbook"/>
              </a:rPr>
              <a:t>   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Box 10"/>
          <p:cNvSpPr/>
          <p:nvPr/>
        </p:nvSpPr>
        <p:spPr>
          <a:xfrm>
            <a:off x="3926880" y="6166800"/>
            <a:ext cx="3060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entury Schoolbook"/>
              </a:rPr>
              <a:t>  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12"/>
          <p:cNvSpPr/>
          <p:nvPr/>
        </p:nvSpPr>
        <p:spPr>
          <a:xfrm>
            <a:off x="7791480" y="6166800"/>
            <a:ext cx="3060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entury Schoolbook"/>
              </a:rPr>
              <a:t>   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14"/>
          <p:cNvSpPr/>
          <p:nvPr/>
        </p:nvSpPr>
        <p:spPr>
          <a:xfrm>
            <a:off x="324000" y="5796720"/>
            <a:ext cx="3060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entury Schoolbook"/>
              </a:rPr>
              <a:t>     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15"/>
          <p:cNvSpPr/>
          <p:nvPr/>
        </p:nvSpPr>
        <p:spPr>
          <a:xfrm>
            <a:off x="3926880" y="5796720"/>
            <a:ext cx="3060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entury Schoolbook"/>
              </a:rPr>
              <a:t>      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16"/>
          <p:cNvSpPr/>
          <p:nvPr/>
        </p:nvSpPr>
        <p:spPr>
          <a:xfrm>
            <a:off x="7791480" y="5796720"/>
            <a:ext cx="3060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800" spc="-1" strike="noStrike">
                <a:solidFill>
                  <a:schemeClr val="dk1"/>
                </a:solidFill>
                <a:latin typeface="Century Schoolbook"/>
              </a:rPr>
              <a:t>     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9" name="" descr=""/>
          <p:cNvPicPr/>
          <p:nvPr/>
        </p:nvPicPr>
        <p:blipFill>
          <a:blip r:embed="rId1"/>
          <a:stretch/>
        </p:blipFill>
        <p:spPr>
          <a:xfrm>
            <a:off x="505080" y="2411640"/>
            <a:ext cx="10010520" cy="2047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tint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0" name="Rectangle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entury Schoolbook"/>
            </a:endParaRPr>
          </a:p>
        </p:txBody>
      </p:sp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290160" y="719280"/>
            <a:ext cx="10652400" cy="816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52" strike="noStrike">
                <a:solidFill>
                  <a:srgbClr val="ffffff"/>
                </a:solidFill>
                <a:latin typeface="Century Schoolbook"/>
              </a:rPr>
              <a:t>Conclusion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292320" y="1328040"/>
            <a:ext cx="9158040" cy="2550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  <a:tabLst>
                <a:tab algn="l" pos="0"/>
              </a:tabLst>
            </a:pPr>
            <a:r>
              <a:rPr b="0" lang="en-US" sz="2000" spc="4" strike="noStrike">
                <a:solidFill>
                  <a:schemeClr val="dk1"/>
                </a:solidFill>
                <a:latin typeface="Century Schoolbook"/>
                <a:ea typeface="Century Schoolbook"/>
              </a:rPr>
              <a:t>Lightweight models = efficient + accurate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  <a:tabLst>
                <a:tab algn="l" pos="0"/>
              </a:tabLst>
            </a:pPr>
            <a:r>
              <a:rPr b="0" lang="en-US" sz="2000" spc="4" strike="noStrike">
                <a:solidFill>
                  <a:schemeClr val="dk1"/>
                </a:solidFill>
                <a:latin typeface="Century Schoolbook"/>
                <a:ea typeface="Century Schoolbook"/>
              </a:rPr>
              <a:t>Suitable for real-time systems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  <a:tabLst>
                <a:tab algn="l" pos="0"/>
              </a:tabLst>
            </a:pPr>
            <a:r>
              <a:rPr b="0" lang="en-US" sz="2000" spc="4" strike="noStrike">
                <a:solidFill>
                  <a:schemeClr val="dk1"/>
                </a:solidFill>
                <a:latin typeface="Century Schoolbook"/>
                <a:ea typeface="Century Schoolbook"/>
              </a:rPr>
              <a:t>Good trade-off achieved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  <a:tabLst>
                <a:tab algn="l" pos="0"/>
              </a:tabLst>
            </a:pPr>
            <a:r>
              <a:rPr b="0" lang="en-US" sz="2000" spc="4" strike="noStrike">
                <a:solidFill>
                  <a:schemeClr val="dk1"/>
                </a:solidFill>
                <a:latin typeface="Century Schoolbook"/>
                <a:ea typeface="Century Schoolbook"/>
              </a:rPr>
              <a:t>Deployed on low compute devices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77720" y="0"/>
            <a:ext cx="913320" cy="685692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>
            <a:tint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4" name="Rectangle 2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entury Schoolbook"/>
            </a:endParaRPr>
          </a:p>
        </p:txBody>
      </p:sp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300960" y="746640"/>
            <a:ext cx="10652400" cy="80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400" spc="-52" strike="noStrike">
                <a:solidFill>
                  <a:schemeClr val="dk1"/>
                </a:solidFill>
                <a:latin typeface="Century Schoolbook"/>
              </a:rPr>
              <a:t>Future Works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"/>
          <p:cNvSpPr>
            <a:spLocks noGrp="1"/>
          </p:cNvSpPr>
          <p:nvPr>
            <p:ph/>
          </p:nvPr>
        </p:nvSpPr>
        <p:spPr>
          <a:xfrm>
            <a:off x="300960" y="1713960"/>
            <a:ext cx="9555120" cy="2196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b="0" lang="en-US" sz="2000" spc="4" strike="noStrike">
                <a:solidFill>
                  <a:schemeClr val="dk1"/>
                </a:solidFill>
                <a:latin typeface="Century Schoolbook"/>
                <a:ea typeface="Century Schoolbook"/>
              </a:rPr>
              <a:t>Learning-Based Frame Selection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b="0" lang="en-US" sz="2000" spc="4" strike="noStrike">
                <a:solidFill>
                  <a:schemeClr val="dk1"/>
                </a:solidFill>
                <a:latin typeface="Century Schoolbook"/>
                <a:ea typeface="Century Schoolbook"/>
              </a:rPr>
              <a:t>Multimodal Fusion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182880" indent="-182880" defTabSz="914400">
              <a:lnSpc>
                <a:spcPct val="95000"/>
              </a:lnSpc>
              <a:spcBef>
                <a:spcPts val="1400"/>
              </a:spcBef>
              <a:spcAft>
                <a:spcPts val="201"/>
              </a:spcAft>
              <a:buClr>
                <a:srgbClr val="6f6f74"/>
              </a:buClr>
              <a:buSzPct val="80000"/>
              <a:buFont typeface="Arial"/>
              <a:buChar char="•"/>
            </a:pPr>
            <a:r>
              <a:rPr b="0" lang="en-US" sz="2000" spc="4" strike="noStrike">
                <a:solidFill>
                  <a:schemeClr val="dk1"/>
                </a:solidFill>
                <a:latin typeface="Century Schoolbook"/>
                <a:ea typeface="Century Schoolbook"/>
              </a:rPr>
              <a:t>Multilingual &amp; Domain-Specific Expansion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Rectangle 2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77720" y="0"/>
            <a:ext cx="913320" cy="685692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>
            <a:lumMod val="7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456120" cy="6856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Box 3"/>
          <p:cNvSpPr/>
          <p:nvPr/>
        </p:nvSpPr>
        <p:spPr>
          <a:xfrm>
            <a:off x="1261800" y="1028520"/>
            <a:ext cx="9417240" cy="38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horzOverflow="overflow" lIns="90000" rIns="90000" tIns="45000" bIns="45000" anchor="ctr">
            <a:normAutofit/>
          </a:bodyPr>
          <a:p>
            <a:pPr algn="ctr" defTabSz="914400">
              <a:lnSpc>
                <a:spcPct val="85000"/>
              </a:lnSpc>
              <a:spcAft>
                <a:spcPts val="601"/>
              </a:spcAft>
            </a:pPr>
            <a:r>
              <a:rPr b="0" lang="en-US" sz="6000" spc="-52" strike="noStrike">
                <a:solidFill>
                  <a:schemeClr val="dk1"/>
                </a:solidFill>
                <a:latin typeface="Century Schoolbook"/>
              </a:rPr>
              <a:t>Thank You</a:t>
            </a:r>
            <a:endParaRPr b="0" lang="en-US" sz="60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50" name="Straight Connector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>
            <a:off x="5651280" y="5097240"/>
            <a:ext cx="597600" cy="1080"/>
          </a:xfrm>
          <a:prstGeom prst="straightConnector1">
            <a:avLst/>
          </a:prstGeom>
          <a:ln w="12700">
            <a:solidFill>
              <a:srgbClr val="46464a"/>
            </a:solidFill>
            <a:round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 pitchFamily="0" charset="1"/>
        <a:ea typeface=""/>
        <a:cs typeface=""/>
      </a:majorFont>
      <a:minorFont>
        <a:latin typeface="Century Schoolbook" panose="020406040505050203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75000"/>
          </a:schemeClr>
        </a:solidFill>
      </a:fillStyleLst>
      <a:lnStyleLst>
        <a:ln w="9525" cap="flat" cmpd="sng" algn="ctr">
          <a:prstDash val="solid"/>
        </a:ln>
        <a:ln w="13970" cap="flat" cmpd="sng" algn="ctr">
          <a:prstDash val="solid"/>
        </a:ln>
        <a:ln w="1714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4000"/>
                <a:shade val="98000"/>
                <a:lumMod val="102000"/>
              </a:schemeClr>
            </a:gs>
            <a:gs pos="100000">
              <a:schemeClr val="phClr">
                <a:tint val="98000"/>
                <a:shade val="78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 pitchFamily="0" charset="1"/>
        <a:ea typeface=""/>
        <a:cs typeface=""/>
      </a:majorFont>
      <a:minorFont>
        <a:latin typeface="Century Schoolbook" panose="020406040505050203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75000"/>
          </a:schemeClr>
        </a:solidFill>
      </a:fillStyleLst>
      <a:lnStyleLst>
        <a:ln w="9525" cap="flat" cmpd="sng" algn="ctr">
          <a:prstDash val="solid"/>
        </a:ln>
        <a:ln w="13970" cap="flat" cmpd="sng" algn="ctr">
          <a:prstDash val="solid"/>
        </a:ln>
        <a:ln w="1714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4000"/>
                <a:shade val="98000"/>
                <a:lumMod val="102000"/>
              </a:schemeClr>
            </a:gs>
            <a:gs pos="100000">
              <a:schemeClr val="phClr">
                <a:tint val="98000"/>
                <a:shade val="78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 pitchFamily="0" charset="1"/>
        <a:ea typeface=""/>
        <a:cs typeface=""/>
      </a:majorFont>
      <a:minorFont>
        <a:latin typeface="Century Schoolbook" panose="020406040505050203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75000"/>
          </a:schemeClr>
        </a:solidFill>
      </a:fillStyleLst>
      <a:lnStyleLst>
        <a:ln w="9525" cap="flat" cmpd="sng" algn="ctr">
          <a:prstDash val="solid"/>
        </a:ln>
        <a:ln w="13970" cap="flat" cmpd="sng" algn="ctr">
          <a:prstDash val="solid"/>
        </a:ln>
        <a:ln w="1714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4000"/>
                <a:shade val="98000"/>
                <a:lumMod val="102000"/>
              </a:schemeClr>
            </a:gs>
            <a:gs pos="100000">
              <a:schemeClr val="phClr">
                <a:tint val="98000"/>
                <a:shade val="78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 pitchFamily="0" charset="1"/>
        <a:ea typeface=""/>
        <a:cs typeface=""/>
      </a:majorFont>
      <a:minorFont>
        <a:latin typeface="Century Schoolbook" panose="020406040505050203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75000"/>
          </a:schemeClr>
        </a:solidFill>
      </a:fillStyleLst>
      <a:lnStyleLst>
        <a:ln w="9525" cap="flat" cmpd="sng" algn="ctr">
          <a:prstDash val="solid"/>
        </a:ln>
        <a:ln w="13970" cap="flat" cmpd="sng" algn="ctr">
          <a:prstDash val="solid"/>
        </a:ln>
        <a:ln w="1714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4000"/>
                <a:shade val="98000"/>
                <a:lumMod val="102000"/>
              </a:schemeClr>
            </a:gs>
            <a:gs pos="100000">
              <a:schemeClr val="phClr">
                <a:tint val="98000"/>
                <a:shade val="78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 pitchFamily="0" charset="1"/>
        <a:ea typeface=""/>
        <a:cs typeface=""/>
      </a:majorFont>
      <a:minorFont>
        <a:latin typeface="Century Schoolbook" panose="020406040505050203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75000"/>
          </a:schemeClr>
        </a:solidFill>
      </a:fillStyleLst>
      <a:lnStyleLst>
        <a:ln w="9525" cap="flat" cmpd="sng" algn="ctr">
          <a:prstDash val="solid"/>
        </a:ln>
        <a:ln w="13970" cap="flat" cmpd="sng" algn="ctr">
          <a:prstDash val="solid"/>
        </a:ln>
        <a:ln w="1714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4000"/>
                <a:shade val="98000"/>
                <a:lumMod val="102000"/>
              </a:schemeClr>
            </a:gs>
            <a:gs pos="100000">
              <a:schemeClr val="phClr">
                <a:tint val="98000"/>
                <a:shade val="78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 pitchFamily="0" charset="1"/>
        <a:ea typeface=""/>
        <a:cs typeface=""/>
      </a:majorFont>
      <a:minorFont>
        <a:latin typeface="Century Schoolbook" panose="020406040505050203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75000"/>
          </a:schemeClr>
        </a:solidFill>
      </a:fillStyleLst>
      <a:lnStyleLst>
        <a:ln w="9525" cap="flat" cmpd="sng" algn="ctr">
          <a:prstDash val="solid"/>
        </a:ln>
        <a:ln w="13970" cap="flat" cmpd="sng" algn="ctr">
          <a:prstDash val="solid"/>
        </a:ln>
        <a:ln w="1714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4000"/>
                <a:shade val="98000"/>
                <a:lumMod val="102000"/>
              </a:schemeClr>
            </a:gs>
            <a:gs pos="100000">
              <a:schemeClr val="phClr">
                <a:tint val="98000"/>
                <a:shade val="78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 pitchFamily="0" charset="1"/>
        <a:ea typeface=""/>
        <a:cs typeface=""/>
      </a:majorFont>
      <a:minorFont>
        <a:latin typeface="Century Schoolbook" panose="020406040505050203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75000"/>
          </a:schemeClr>
        </a:solidFill>
      </a:fillStyleLst>
      <a:lnStyleLst>
        <a:ln w="9525" cap="flat" cmpd="sng" algn="ctr">
          <a:prstDash val="solid"/>
        </a:ln>
        <a:ln w="13970" cap="flat" cmpd="sng" algn="ctr">
          <a:prstDash val="solid"/>
        </a:ln>
        <a:ln w="1714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4000"/>
                <a:shade val="98000"/>
                <a:lumMod val="102000"/>
              </a:schemeClr>
            </a:gs>
            <a:gs pos="100000">
              <a:schemeClr val="phClr">
                <a:tint val="98000"/>
                <a:shade val="78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 pitchFamily="0" charset="1"/>
        <a:ea typeface=""/>
        <a:cs typeface=""/>
      </a:majorFont>
      <a:minorFont>
        <a:latin typeface="Century Schoolbook" panose="020406040505050203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75000"/>
          </a:schemeClr>
        </a:solidFill>
      </a:fillStyleLst>
      <a:lnStyleLst>
        <a:ln w="9525" cap="flat" cmpd="sng" algn="ctr">
          <a:prstDash val="solid"/>
        </a:ln>
        <a:ln w="13970" cap="flat" cmpd="sng" algn="ctr">
          <a:prstDash val="solid"/>
        </a:ln>
        <a:ln w="1714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4000"/>
                <a:shade val="98000"/>
                <a:lumMod val="102000"/>
              </a:schemeClr>
            </a:gs>
            <a:gs pos="100000">
              <a:schemeClr val="phClr">
                <a:tint val="98000"/>
                <a:shade val="78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 pitchFamily="0" charset="1"/>
        <a:ea typeface=""/>
        <a:cs typeface=""/>
      </a:majorFont>
      <a:minorFont>
        <a:latin typeface="Century Schoolbook" panose="020406040505050203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75000"/>
          </a:schemeClr>
        </a:solidFill>
      </a:fillStyleLst>
      <a:lnStyleLst>
        <a:ln w="9525" cap="flat" cmpd="sng" algn="ctr">
          <a:prstDash val="solid"/>
        </a:ln>
        <a:ln w="13970" cap="flat" cmpd="sng" algn="ctr">
          <a:prstDash val="solid"/>
        </a:ln>
        <a:ln w="1714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4000"/>
                <a:shade val="98000"/>
                <a:lumMod val="102000"/>
              </a:schemeClr>
            </a:gs>
            <a:gs pos="100000">
              <a:schemeClr val="phClr">
                <a:tint val="98000"/>
                <a:shade val="78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 pitchFamily="0" charset="1"/>
        <a:ea typeface=""/>
        <a:cs typeface=""/>
      </a:majorFont>
      <a:minorFont>
        <a:latin typeface="Century Schoolbook" panose="020406040505050203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75000"/>
          </a:schemeClr>
        </a:solidFill>
      </a:fillStyleLst>
      <a:lnStyleLst>
        <a:ln w="9525" cap="flat" cmpd="sng" algn="ctr">
          <a:prstDash val="solid"/>
        </a:ln>
        <a:ln w="13970" cap="flat" cmpd="sng" algn="ctr">
          <a:prstDash val="solid"/>
        </a:ln>
        <a:ln w="1714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4000"/>
                <a:shade val="98000"/>
                <a:lumMod val="102000"/>
              </a:schemeClr>
            </a:gs>
            <a:gs pos="100000">
              <a:schemeClr val="phClr">
                <a:tint val="98000"/>
                <a:shade val="78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 pitchFamily="0" charset="1"/>
        <a:ea typeface=""/>
        <a:cs typeface=""/>
      </a:majorFont>
      <a:minorFont>
        <a:latin typeface="Century Schoolbook" panose="020406040505050203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75000"/>
          </a:schemeClr>
        </a:solidFill>
      </a:fillStyleLst>
      <a:lnStyleLst>
        <a:ln w="9525" cap="flat" cmpd="sng" algn="ctr">
          <a:prstDash val="solid"/>
        </a:ln>
        <a:ln w="13970" cap="flat" cmpd="sng" algn="ctr">
          <a:prstDash val="solid"/>
        </a:ln>
        <a:ln w="17145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4000"/>
                <a:shade val="98000"/>
                <a:lumMod val="102000"/>
              </a:schemeClr>
            </a:gs>
            <a:gs pos="100000">
              <a:schemeClr val="phClr">
                <a:tint val="98000"/>
                <a:shade val="78000"/>
              </a:schemeClr>
            </a:gs>
          </a:gsLst>
          <a:path path="circle">
            <a:fillToRect l="100000" t="100000" r="100000" b="10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2013-07-15T20:26:40Z</dcterms:created>
  <dc:creator/>
  <dc:description/>
  <dc:language>en-US</dc:language>
  <cp:lastModifiedBy/>
  <dcterms:modified xsi:type="dcterms:W3CDTF">2025-12-02T10:12:19Z</dcterms:modified>
  <cp:revision>343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21</vt:i4>
  </property>
</Properties>
</file>